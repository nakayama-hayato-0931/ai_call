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914400"/>
            <a:ext cx="2743200" cy="2743200"/>
          </a:xfrm>
          <a:prstGeom prst="ellipse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486400"/>
            <a:ext cx="2286000" cy="2286000"/>
          </a:xfrm>
          <a:prstGeom prst="ellipse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5943600"/>
            <a:ext cx="1371600" cy="1371600"/>
          </a:xfrm>
          <a:prstGeom prst="ellipse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AI CallCenter CRM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DBFE"/>
                </a:solidFill>
                <a:latin typeface="Meiryo"/>
              </a:defRPr>
            </a:pPr>
            <a:r>
              <a:t>機能紹介プレゼンテーション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657600"/>
            <a:ext cx="3047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  <a:latin typeface="Meiryo"/>
              </a:defRPr>
            </a:pPr>
            <a:r>
              <a:t>2026-03-18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システム概要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AI CallCenter CRM System の全体像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eiryo"/>
              </a:defRPr>
            </a:pPr>
            <a:r>
              <a:t>Next.js (React)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eiryo"/>
              </a:defRPr>
            </a:pPr>
            <a:r>
              <a:t>Express.js (Node.js)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eiryo"/>
              </a:defRPr>
            </a:pPr>
            <a:r>
              <a:t>MySQL (Railway)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51760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eiryo"/>
              </a:defRPr>
            </a:pPr>
            <a:r>
              <a:t>OpenAI GPT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65176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651760"/>
            <a:ext cx="73152" cy="10058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eiryo"/>
              </a:defRPr>
            </a:pPr>
            <a:r>
              <a:t>Railway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65176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651760"/>
            <a:ext cx="731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外部連携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eiryo"/>
              </a:defRPr>
            </a:pPr>
            <a:r>
              <a:t>Google Sheets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eiryo"/>
              </a:defRPr>
            </a:pPr>
            <a:r>
              <a:t>認証方式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Meiryo"/>
              </a:defRPr>
            </a:pPr>
            <a:r>
              <a:t>  オペレーター: 名前選択でログイン（パスワードなし）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Meiryo"/>
              </a:defRPr>
            </a:pPr>
            <a:r>
              <a:t>  管理者/マネージャー/営業: メールアドレス + パスワード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Meiryo"/>
              </a:defRPr>
            </a:pPr>
            <a:r>
              <a:t>  JWT トークンによるセッション管理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023360"/>
            <a:ext cx="50292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72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ログイン画面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ユーザー権限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4つのロールとアクセス制御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78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453"/>
                <a:gridCol w="1860605"/>
                <a:gridCol w="74424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権限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アクセス可能な機能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operator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オペレーター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ダッシュボード、架電画面、リコール、案件管理、AI評価、架電結果、架電リスト、メッセージ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manager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マネージャー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上記 + パフォーマンス閲覧、スクリプト管理、CPA分析、架電ログ管理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管理者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全機能（ユーザー管理含む）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sales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営業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ダッシュボード、案件管理（閲覧中心）、メッセージ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6576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Meiryo"/>
              </a:defRPr>
            </a:pPr>
            <a:r>
              <a:t>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eiryo"/>
              </a:defRPr>
            </a:pPr>
            <a:r>
              <a:t>架電業務の実行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6576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Meiryo"/>
              </a:defRPr>
            </a:pPr>
            <a:r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eiryo"/>
              </a:defRPr>
            </a:pPr>
            <a:r>
              <a:t>チーム管理・分析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576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Meiryo"/>
              </a:defRPr>
            </a:pPr>
            <a: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eiryo"/>
              </a:defRPr>
            </a:pPr>
            <a:r>
              <a:t>全機能アクセス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6576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Meiryo"/>
              </a:defRPr>
            </a:pPr>
            <a:r>
              <a:t>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eiryo"/>
              </a:defRPr>
            </a:pPr>
            <a:r>
              <a:t>案件管理・閲覧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  |  権限: 全ロール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eiryo"/>
              </a:defRPr>
            </a:pPr>
            <a:r>
              <a:t>稼働時間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Meiryo"/>
              </a:defRPr>
            </a:pPr>
            <a:r>
              <a:t>7.0時間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801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eiryo"/>
              </a:defRPr>
            </a:pPr>
            <a:r>
              <a:t>コール数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Meiryo"/>
              </a:defRPr>
            </a:pPr>
            <a:r>
              <a:t>46件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2801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eiryo"/>
              </a:defRPr>
            </a:pPr>
            <a:r>
              <a:t>リコール獲得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Meiryo"/>
              </a:defRPr>
            </a:pPr>
            <a:r>
              <a:t>7件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2801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eiryo"/>
              </a:defRPr>
            </a:pPr>
            <a:r>
              <a:t>リコール消化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Meiryo"/>
              </a:defRPr>
            </a:pPr>
            <a:r>
              <a:t>2件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2801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eiryo"/>
              </a:defRPr>
            </a:pPr>
            <a:r>
              <a:t>有効接続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Meiryo"/>
              </a:defRPr>
            </a:pPr>
            <a:r>
              <a:t>10件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eiryo"/>
              </a:defRPr>
            </a:pPr>
            <a:r>
              <a:t>期間タブ: 日別 / 週別 / 月別 / 累計  -- 全KPI・グラフが連動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53035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679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ダッシュボード画面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260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  <a:latin typeface="Meiryo"/>
              </a:defRPr>
            </a:pPr>
            <a:r>
              <a:t>KPI カード (7指標)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eiryo"/>
              </a:defRPr>
            </a:pPr>
            <a:r>
              <a:t>  稼働時間、コール数、リコール獲得/消化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eiryo"/>
              </a:defRPr>
            </a:pPr>
            <a:r>
              <a:t>  有効接続、担当接続、案件獲得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  <a:latin typeface="Meiryo"/>
              </a:defRPr>
            </a:pPr>
            <a:r>
              <a:t>グラフ (3種)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eiryo"/>
              </a:defRPr>
            </a:pPr>
            <a:r>
              <a:t>  時間帯別コール数 (棒グラフ)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eiryo"/>
              </a:defRPr>
            </a:pPr>
            <a:r>
              <a:t>  業種別案件化率 (円グラフ)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eiryo"/>
              </a:defRPr>
            </a:pPr>
            <a:r>
              <a:t>  時間帯x業種別 接続率 (テーブル)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  <a:latin typeface="Meiryo"/>
              </a:defRPr>
            </a:pPr>
            <a:r>
              <a:t>コピー機能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eiryo"/>
              </a:defRPr>
            </a:pPr>
            <a:r>
              <a:t>  コールデータ / 日報コピー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  <a:latin typeface="Meiryo"/>
              </a:defRPr>
            </a:pPr>
            <a:r>
              <a:t>AI総合分析 (管理者/マネージャー)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eiryo"/>
              </a:defRPr>
            </a:pPr>
            <a:r>
              <a:t>  チーム / 個人のパフォーマンスをAIが分析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架電画面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/call  |  権限: operator, manager,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架電画面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eiryo"/>
              </a:defRPr>
            </a:pPr>
            <a:r>
              <a:t>架電リスト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最大10件の架電対象を表示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4つのピックアップモード: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eiryo"/>
              </a:defRPr>
            </a:pPr>
            <a:r>
              <a:t>  自動 / 業種別 / 自作 / 特別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eiryo"/>
              </a:defRPr>
            </a:pPr>
            <a:r>
              <a:t>企業情報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743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会社名クリックでGoogle検索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電話番号、業種、地域、住所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過去の架電履歴表示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eiryo"/>
              </a:defRPr>
            </a:pPr>
            <a:r>
              <a:t>結果入力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86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6種の結果コード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114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メモ、接続フラグ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343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リコール日時設定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eiryo"/>
              </a:defRPr>
            </a:pPr>
            <a:r>
              <a:t>排他ロック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029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企業単位で5分間ロック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257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他オペレーターとの重複防止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架電結果 / 結果コード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/call-results  |  権限: operator, manager, admin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0292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結果コード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NO_ANSWER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不通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NG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不在/拒否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リコール（日時指定）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INTERESTED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興味あり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案件化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SKIP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スキップ（集計対象外）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eiryo"/>
              </a:defRPr>
            </a:pPr>
            <a:r>
              <a:t>架電結果画面の主な機能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日別/範囲/全件の表示切替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フィルタ: 結果コード、オペレーター、検索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インライン編集: 結果コード、メモ、接続フラグ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通話時間の自動計算・表示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文字起こし展開表示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架電結果一覧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リコール管理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/recalls  |  権限: operator, manager,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4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リコール管理画面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371600"/>
          <a:ext cx="48463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タブ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今日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本日期限のリコール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明日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翌日期限のリコール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期限超過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期限切れの未完了リコール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その他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上記以外の予定リコール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474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eiryo"/>
              </a:defRPr>
            </a:pPr>
            <a:r>
              <a:t>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840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完了: リコールを消化済みにする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キャンセル: リコールを取消す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通話文字起こしの閲覧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クリックで架電画面へ遷移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案件管理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/projects  |  権限: 全ロール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98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案件一覧画面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28016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ステータス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BOSHUCHU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募集中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SHORUI_CHU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書類選考中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MENSETSU_KAKUTEI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面接確定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KEKKA_MACHI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結果待ち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NAITEI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内定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NAITEI_TORIKESHI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内定取消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FUGOKAKU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不合格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LOST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失注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BARASHI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バラシ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eiryo"/>
              </a:defRPr>
            </a:pPr>
            <a:r>
              <a:t>主な機能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インライン ステータス変更（プルダウンで直接変更）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ステータスフィルタ、日付範囲、自分の案件フィルタ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案件詳細: 求人番号、面接日、面接種別、書類選考、メモ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過去の架電履歴タイムライン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内定者情報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案件管理 - 内定時の追加機能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56DB"/>
                </a:solidFill>
                <a:latin typeface="Meiryo"/>
              </a:defRPr>
            </a:pPr>
            <a:r>
              <a:t>ステータスを「内定」に変更すると自動でモーダルが表示される（一覧画面・詳細画面両対応）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入力項目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備考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登録番号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候補者の登録番号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例: AB1234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コース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国内/転職/海外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プルダウン選択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初回入金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初回入金額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半角数字のみ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見込売上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見込売上額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半角数字のみ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6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内定者情報モーダル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eiryo"/>
              </a:defRPr>
            </a:pPr>
            <a:r>
              <a:t>内定取消の仕組み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ステータス「内定取消」で全員の金額が0にリセット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個別取消: チェックボックスで1人ずつ取消可能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復活: チェックを外すと金額を再編集可能（可逆）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CPA分析では取消分を自動除外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AI評価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/logs  |  権限: operator, manager,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eiryo"/>
              </a:defRPr>
            </a:pPr>
            <a:r>
              <a:t>オープニング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eiryo"/>
              </a:defRPr>
            </a:pPr>
            <a:r>
              <a:t>挨拶・自己紹介・用件提示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801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eiryo"/>
              </a:defRPr>
            </a:pPr>
            <a:r>
              <a:t>明瞭さ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eiryo"/>
              </a:defRPr>
            </a:pPr>
            <a:r>
              <a:t>話し方の分かりやすさ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2801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eiryo"/>
              </a:defRPr>
            </a:pPr>
            <a:r>
              <a:t>ヒアリング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eiryo"/>
              </a:defRPr>
            </a:pPr>
            <a:r>
              <a:t>相手のニーズ把握力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2801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eiryo"/>
              </a:defRPr>
            </a:pPr>
            <a:r>
              <a:t>切り返し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eiryo"/>
              </a:defRPr>
            </a:pPr>
            <a:r>
              <a:t>反論・断りへの対応力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2801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eiryo"/>
              </a:defRPr>
            </a:pPr>
            <a:r>
              <a:t>クロージング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eiryo"/>
              </a:defRPr>
            </a:pPr>
            <a:r>
              <a:t>次アクションへの誘導力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各項目 100点満点で評価  |  15行未満の通話は自動スキップ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548640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4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AI評価画面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eiryo"/>
              </a:defRPr>
            </a:pPr>
            <a:r>
              <a:t>評価機能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246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個別評価: 1件ずつAI評価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一括評価: 日次の全通話を評価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03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日次サマリー: 平均スコアと傾向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eiryo"/>
              </a:defRPr>
            </a:pPr>
            <a:r>
              <a:t>フィードバック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89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良かった点（箇条書き）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17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改善点（箇条書き）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46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次回アクション提案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532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全オペレーターの評価一覧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760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スクリプト提案の自動生成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989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電話番号での横断検索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架電リスト管理（CSVインポート）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/csv-import  |  権限: operator, manager, admin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種別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権限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架電リスト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通常の架電対象企業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全員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特別リスト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特別ピックアップ用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manager以上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NGリスト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架電除外企業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manager以上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既存案件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案件化済み（除外用）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manager以上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1371600"/>
            <a:ext cx="502920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98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CSVインポート画面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eiryo"/>
              </a:defRPr>
            </a:pPr>
            <a:r>
              <a:t>インポート方法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6576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Meiryo"/>
              </a:defRPr>
            </a:pPr>
            <a:r>
              <a:t>CSV / XLS / XLSX（ドラッグ&amp;ドロップ可）、手動入力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eiryo"/>
              </a:defRPr>
            </a:pPr>
            <a:r>
              <a:t>重複判定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0233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Meiryo"/>
              </a:defRPr>
            </a:pPr>
            <a:r>
              <a:t>電話番号の一致で自動判定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eiryo"/>
              </a:defRPr>
            </a:pPr>
            <a:r>
              <a:t>優先割当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38912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Meiryo"/>
              </a:defRPr>
            </a:pPr>
            <a:r>
              <a:t>オペレーター + 猶予日数を指定（manager以上）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eiryo"/>
              </a:defRPr>
            </a:pPr>
            <a:r>
              <a:t>企業一覧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7548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Meiryo"/>
              </a:defRPr>
            </a:pPr>
            <a:r>
              <a:t>業種・地域フィルタ、ロック状態表示（30秒更新）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CPA/案件質分析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画面: /admin/analytics  |  権限: manager,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CPA分析画面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eiryo"/>
              </a:defRPr>
            </a:pPr>
            <a:r>
              <a:t>CPA指標 (13項目)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コスト = 出勤記録 x 時給1,500円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842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コール数 / 案件化率 / 案件数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311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案件CPA / 面接CPA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780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内定 / 不合格 / バラシ・失注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249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初回入金 / 見込売上 / ROAS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eiryo"/>
              </a:defRPr>
            </a:pPr>
            <a:r>
              <a:t>案件質指標 (9項目)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5661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案件数 / 失注 / 連絡待ち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130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面接日確定 / 面接実施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0599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バラシ / オンライン面接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3068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書類選考無し / 書類選考落ち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eiryo"/>
              </a:defRPr>
            </a:pPr>
            <a:r>
              <a:t>表示形式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1206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全オペレーター比較テーブル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36752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期間: 月別 / 週別（全週一覧）/ 累計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61441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Meiryo"/>
              </a:defRPr>
            </a:pPr>
            <a:r>
              <a:t>  コスト: CSV/PDFインポート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スクリプト管理 / ユーザー管理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管理者向け機能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eiryo"/>
              </a:defRPr>
            </a:pPr>
            <a:r>
              <a:t>スクリプト管理  /admin/scripts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50292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種別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切り返しトーク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断り文句への対応スクリプト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Q&amp;A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よくある質問と回答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017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1. 管理者/マネージャーがスクリプトを作成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2. 承認/却下の管理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3. 承認済みがオペレーターの架電画面に表示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4. 業種フィルタリング対応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eiryo"/>
              </a:defRPr>
            </a:pPr>
            <a:r>
              <a:t>ユーザー管理  /admin/users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ユーザーの作成/編集/削除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ロール割当（operator / manager / admin / sales）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アクティブ/非アクティブ切替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一覧表示（名前、メール、ロール、作成日）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eiryo"/>
              </a:defRPr>
            </a:pPr>
            <a:r>
              <a:t>メッセージ機能  /messages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ユーザーが機能要望やフィードバックを送信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管理者が全メッセージを閲覧・返信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  <a:latin typeface="Meiryo"/>
              </a:defRPr>
            </a:pPr>
            <a:r>
              <a:t>  メッセージ一覧と返信履歴の表示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53035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2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スクリプト管理画面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029200"/>
            <a:ext cx="5029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400"/>
              </a:spcBef>
              <a:defRPr sz="1100">
                <a:solidFill>
                  <a:srgbClr val="9CA3AF"/>
                </a:solidFill>
                <a:latin typeface="Meiryo"/>
              </a:defRPr>
            </a:pPr>
            <a:r>
              <a:t>ユーザー管理画面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データベース構成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eiryo"/>
              </a:defRPr>
            </a:pPr>
            <a:r>
              <a:t>主要テーブル一覧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75488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テーブル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主な用途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ユーザー情報（ロール、アクティブ状態）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認証・権限管理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companies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企業情報（業種、地域、ロック状態）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架電対象管理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calls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架電記録（結果、メモ、接続フラグ）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架電履歴・KPI集計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projects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案件情報（ステータス、面接情報）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案件管理・進捗追跡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project_hires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内定者情報（登録番号、コース、入金）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内定管理・CPA算出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recall_tasks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リコール予定（日時、ステータス）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リコール管理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evaluations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AI評価結果（5次元スコア）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品質管理・フィードバック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scripts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スクリプト（種別、承認状態）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トーク品質向上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cost_records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出勤記録（CSV/PDFインポート）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CPA算出用コストデータ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exclusion_lists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NG/既存案件リスト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架電除外管理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feature_requests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ユーザーからの要望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eiryo"/>
                        </a:defRPr>
                      </a:pPr>
                      <a:r>
                        <a:t>フィードバック管理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1371600"/>
            <a:ext cx="2286000" cy="2286000"/>
          </a:xfrm>
          <a:prstGeom prst="ellipse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029200"/>
            <a:ext cx="1828800" cy="1828800"/>
          </a:xfrm>
          <a:prstGeom prst="ellipse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5486400"/>
            <a:ext cx="1371600" cy="1371600"/>
          </a:xfrm>
          <a:prstGeom prst="ellipse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 CallCenter CRM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83280"/>
            <a:ext cx="3047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  <a:latin typeface="Meiryo"/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